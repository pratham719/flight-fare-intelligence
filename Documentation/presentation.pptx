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c39f3dc-4877-3cfd-b1c5-0478bf61d690}">
          <p14:sldIdLst>
            <p14:sldId id="256"/>
          </p14:sldIdLst>
        </p14:section>
        <p14:section name="Findings" id="{8e8bc1d5-8bfe-7942-5d0e-b0f82f406f7c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Model" id="{c42705c9-2d4a-2657-0424-d87a893aaccb}">
          <p14:sldIdLst>
            <p14:sldId id="263"/>
            <p14:sldId id="264"/>
            <p14:sldId id="265"/>
          </p14:sldIdLst>
        </p14:section>
        <p14:section name="Dashboard" id="{e593a9be-160f-b739-ac67-4ad5be1c72ad}">
          <p14:sldIdLst>
            <p14:sldId id="266"/>
            <p14:sldId id="267"/>
            <p14:sldId id="268"/>
          </p14:sldIdLst>
        </p14:section>
        <p14:section name="Engineering" id="{3a82ad13-d39b-ed9f-e271-32ddb9dd7369}">
          <p14:sldIdLst>
            <p14:sldId id="269"/>
          </p14:sldIdLst>
        </p14:section>
        <p14:section name="Wrap-up" id="{896bb33a-e1c1-37e5-85b9-a8dcd5c0d370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B6B7F"/>
                </a:solidFill>
                <a:latin typeface="+mn-lt"/>
              </a:rPr>
              <a:t>Average fare by class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fare</c:v>
                </c:pt>
              </c:strCache>
            </c:strRef>
          </c:tx>
          <c:spPr>
            <a:solidFill>
              <a:srgbClr val="2FA38F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A3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7BB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B5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735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Economy</c:v>
                  </c:pt>
                  <c:pt idx="1">
                    <c:v>Premium Economy</c:v>
                  </c:pt>
                  <c:pt idx="2">
                    <c:v>Business</c:v>
                  </c:pt>
                  <c:pt idx="3">
                    <c:v>First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10164</c:v>
                </c:pt>
                <c:pt idx="1">
                  <c:v>16225</c:v>
                </c:pt>
                <c:pt idx="2">
                  <c:v>51632</c:v>
                </c:pt>
                <c:pt idx="3">
                  <c:v>60731</c:v>
                </c:pt>
              </c:numCache>
            </c:numRef>
          </c:val>
        </c:ser>
        <c:dLbls>
          <c:numFmt formatCode="₹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B6B7F"/>
                </a:solidFill>
                <a:latin typeface="+mn-lt"/>
              </a:rPr>
              <a:t>Average Economy fare (₹) by days left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Economy fare</c:v>
                </c:pt>
              </c:strCache>
            </c:strRef>
          </c:tx>
          <c:spPr>
            <a:solidFill>
              <a:srgbClr val="2B7BB9"/>
            </a:solidFill>
            <a:ln w="38100" cap="flat">
              <a:solidFill>
                <a:srgbClr val="2B7BB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B7BB9"/>
              </a:solidFill>
              <a:ln w="9525" cap="flat">
                <a:solidFill>
                  <a:srgbClr val="2B7BB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30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25</c:v>
                  </c:pt>
                  <c:pt idx="6">
                    <c:v> 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20</c:v>
                  </c:pt>
                  <c:pt idx="11">
                    <c:v> </c:v>
                  </c:pt>
                  <c:pt idx="12">
                    <c:v> </c:v>
                  </c:pt>
                  <c:pt idx="13">
                    <c:v> </c:v>
                  </c:pt>
                  <c:pt idx="14">
                    <c:v> </c:v>
                  </c:pt>
                  <c:pt idx="15">
                    <c:v>15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10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 </c:v>
                  </c:pt>
                  <c:pt idx="25">
                    <c:v>5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1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8780</c:v>
                </c:pt>
                <c:pt idx="1">
                  <c:v>9090</c:v>
                </c:pt>
                <c:pt idx="2">
                  <c:v>9827</c:v>
                </c:pt>
                <c:pt idx="3">
                  <c:v>9749</c:v>
                </c:pt>
                <c:pt idx="4">
                  <c:v>9577</c:v>
                </c:pt>
                <c:pt idx="5">
                  <c:v>9280</c:v>
                </c:pt>
                <c:pt idx="6">
                  <c:v>9352</c:v>
                </c:pt>
                <c:pt idx="7">
                  <c:v>9211</c:v>
                </c:pt>
                <c:pt idx="8">
                  <c:v>9234</c:v>
                </c:pt>
                <c:pt idx="9">
                  <c:v>10220</c:v>
                </c:pt>
                <c:pt idx="10">
                  <c:v>10017</c:v>
                </c:pt>
                <c:pt idx="11">
                  <c:v>9993</c:v>
                </c:pt>
                <c:pt idx="12">
                  <c:v>9443</c:v>
                </c:pt>
                <c:pt idx="13">
                  <c:v>9746</c:v>
                </c:pt>
                <c:pt idx="14">
                  <c:v>9598</c:v>
                </c:pt>
                <c:pt idx="15">
                  <c:v>10613</c:v>
                </c:pt>
                <c:pt idx="16">
                  <c:v>13475</c:v>
                </c:pt>
                <c:pt idx="17">
                  <c:v>11233</c:v>
                </c:pt>
                <c:pt idx="18">
                  <c:v>10913</c:v>
                </c:pt>
                <c:pt idx="19">
                  <c:v>11739</c:v>
                </c:pt>
                <c:pt idx="20">
                  <c:v>12941</c:v>
                </c:pt>
                <c:pt idx="21">
                  <c:v>11082</c:v>
                </c:pt>
                <c:pt idx="22">
                  <c:v>11241</c:v>
                </c:pt>
                <c:pt idx="23">
                  <c:v>13311</c:v>
                </c:pt>
                <c:pt idx="24">
                  <c:v>13583</c:v>
                </c:pt>
                <c:pt idx="25">
                  <c:v>14041</c:v>
                </c:pt>
                <c:pt idx="26">
                  <c:v>12400</c:v>
                </c:pt>
                <c:pt idx="27">
                  <c:v>12788</c:v>
                </c:pt>
                <c:pt idx="28">
                  <c:v>13245</c:v>
                </c:pt>
                <c:pt idx="29">
                  <c:v>14331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F"/>
                    </a:solidFill>
                    <a:latin typeface="+mn-lt"/>
                  </a:rPr>
                  <a:t>Days left before departure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5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B6B7F"/>
                </a:solidFill>
                <a:latin typeface="+mn-lt"/>
              </a:rPr>
              <a:t>Average Economy fare by airline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Economy fare</c:v>
                </c:pt>
              </c:strCache>
            </c:strRef>
          </c:tx>
          <c:spPr>
            <a:solidFill>
              <a:srgbClr val="A9C7DF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7D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7D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C7D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C7D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C7D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C7D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9C7D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B7BB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B7BB9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AkasaAir</c:v>
                  </c:pt>
                  <c:pt idx="1">
                    <c:v>AllianceAir</c:v>
                  </c:pt>
                  <c:pt idx="2">
                    <c:v>AirAsia</c:v>
                  </c:pt>
                  <c:pt idx="3">
                    <c:v>GO FIRST</c:v>
                  </c:pt>
                  <c:pt idx="4">
                    <c:v>SpiceJet</c:v>
                  </c:pt>
                  <c:pt idx="5">
                    <c:v>Indigo</c:v>
                  </c:pt>
                  <c:pt idx="6">
                    <c:v>StarAir</c:v>
                  </c:pt>
                  <c:pt idx="7">
                    <c:v>Air India</c:v>
                  </c:pt>
                  <c:pt idx="8">
                    <c:v>Vistara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3570</c:v>
                </c:pt>
                <c:pt idx="1">
                  <c:v>4078</c:v>
                </c:pt>
                <c:pt idx="2">
                  <c:v>7092</c:v>
                </c:pt>
                <c:pt idx="3">
                  <c:v>8015</c:v>
                </c:pt>
                <c:pt idx="4">
                  <c:v>8110</c:v>
                </c:pt>
                <c:pt idx="5">
                  <c:v>8199</c:v>
                </c:pt>
                <c:pt idx="6">
                  <c:v>9793</c:v>
                </c:pt>
                <c:pt idx="7">
                  <c:v>11276</c:v>
                </c:pt>
                <c:pt idx="8">
                  <c:v>12082</c:v>
                </c:pt>
              </c:numCache>
            </c:numRef>
          </c:val>
        </c:ser>
        <c:dLbls>
          <c:numFmt formatCode="₹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B6B7F"/>
                </a:solidFill>
                <a:latin typeface="+mn-lt"/>
              </a:rPr>
              <a:t>Average Economy fare by stops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Economy fare</c:v>
                </c:pt>
              </c:strCache>
            </c:strRef>
          </c:tx>
          <c:spPr>
            <a:solidFill>
              <a:srgbClr val="2FA38F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A3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7BB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735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Non-stop</c:v>
                  </c:pt>
                  <c:pt idx="1">
                    <c:v>1 stop</c:v>
                  </c:pt>
                  <c:pt idx="2">
                    <c:v>2+ stops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5723</c:v>
                </c:pt>
                <c:pt idx="1">
                  <c:v>10731</c:v>
                </c:pt>
                <c:pt idx="2">
                  <c:v>13116</c:v>
                </c:pt>
              </c:numCache>
            </c:numRef>
          </c:val>
        </c:ser>
        <c:dLbls>
          <c:numFmt formatCode="₹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B6B7F"/>
                </a:solidFill>
                <a:latin typeface="+mn-lt"/>
              </a:rPr>
              <a:t>Share of test predictions within X% of the actual fare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test flights</c:v>
                </c:pt>
              </c:strCache>
            </c:strRef>
          </c:tx>
          <c:spPr>
            <a:solidFill>
              <a:srgbClr val="2B7BB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within 5%</c:v>
                  </c:pt>
                  <c:pt idx="1">
                    <c:v>within 10%</c:v>
                  </c:pt>
                  <c:pt idx="2">
                    <c:v>within 15%</c:v>
                  </c:pt>
                  <c:pt idx="3">
                    <c:v>within 20%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37.3</c:v>
                </c:pt>
                <c:pt idx="1">
                  <c:v>60.5</c:v>
                </c:pt>
                <c:pt idx="2">
                  <c:v>75</c:v>
                </c:pt>
                <c:pt idx="3">
                  <c:v>84.2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B6B7F"/>
                </a:solidFill>
                <a:latin typeface="+mn-lt"/>
              </a:rPr>
              <a:t>Permutation importance (increase in MAE, ₹)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Increase in MAE (₹)</c:v>
                </c:pt>
              </c:strCache>
            </c:strRef>
          </c:tx>
          <c:spPr>
            <a:solidFill>
              <a:srgbClr val="2B7B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7BB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7BB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7BB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7BB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7BB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B7BB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B7BB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B7BB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B7BB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8735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Journey day</c:v>
                  </c:pt>
                  <c:pt idx="1">
                    <c:v>Stops</c:v>
                  </c:pt>
                  <c:pt idx="2">
                    <c:v>Departure slot</c:v>
                  </c:pt>
                  <c:pt idx="3">
                    <c:v>Arrival slot</c:v>
                  </c:pt>
                  <c:pt idx="4">
                    <c:v>Days left</c:v>
                  </c:pt>
                  <c:pt idx="5">
                    <c:v>Destination</c:v>
                  </c:pt>
                  <c:pt idx="6">
                    <c:v>Airline</c:v>
                  </c:pt>
                  <c:pt idx="7">
                    <c:v>Source</c:v>
                  </c:pt>
                  <c:pt idx="8">
                    <c:v>Duration</c:v>
                  </c:pt>
                  <c:pt idx="9">
                    <c:v>Class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183</c:v>
                </c:pt>
                <c:pt idx="1">
                  <c:v>215</c:v>
                </c:pt>
                <c:pt idx="2">
                  <c:v>558</c:v>
                </c:pt>
                <c:pt idx="3">
                  <c:v>594</c:v>
                </c:pt>
                <c:pt idx="4">
                  <c:v>1459</c:v>
                </c:pt>
                <c:pt idx="5">
                  <c:v>1555</c:v>
                </c:pt>
                <c:pt idx="6">
                  <c:v>1671</c:v>
                </c:pt>
                <c:pt idx="7">
                  <c:v>1719</c:v>
                </c:pt>
                <c:pt idx="8">
                  <c:v>2815</c:v>
                </c:pt>
                <c:pt idx="9">
                  <c:v>14722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end-to-end analysis of 445k Indian domestic fares, a prediction model, and a deployed Streamlit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numbers. All model figures are from the held-out test set in the notebook; all data figures were recomputed from Cleaned_dataset.csv.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single-day limitation early: it shapes how every later result should be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is also the strongest model feature. First class has just 144 flights, all Air India, so treat its average cautiously.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jump shows up in the last three weeks and is steepest in the final week. Caveat: single-day collection means days-left and calendar date are tangled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Economy only, so classes are not mixed. Business and First exist only on Air India and Vistara, which is why the dashboard warns when several classes are selected.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Economy figures. Connecting flights are cheaper to avoid, not cheaper to take: they are roughly 12 hours in the air vs about 2 for non-stop. Day of week matters little.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models compared on the same 80/20 split. Random Forest has a slightly lower MAE, but tuned gradient boosting wins on R² and RMSE, trains about 3x faster and saves to a 5.8 MB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come straight from the executed notebook cells on the 89,074-flight test set. The app and the notebook conclusion text should quote these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Permutation importance: how much MAE rises when a feature is shuffled. Class dominates; route (source plus destination) and airline come next; timing slots and weekday barely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tabs behind a shared sidebar (Class, Airline, From, To, Stops) and a hero KPI row. Dark theme, responsive down to phone 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updates instantly on any input change. The curve is jagged because the model learned from single-day data where days left and date are entangled; treat it as an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page, one filter changed. The hero KPIs, tab KPIs and the insight boxes under the charts are all recomputed from the filtered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real problems hit on the way to deployment. Each has a concrete fix that is still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model is a good estimator of the snapshot it was trained on, not a forecast of future prices.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54864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Flight Fare Intelligence  |  Pratham Rangoonwala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flight-fare-intelligence.streamlit.app/" TargetMode="External"/><Relationship Id="rId2" Type="http://schemas.openxmlformats.org/officeDocument/2006/relationships/hyperlink" Target="https://github.com/Pratham719/flight-fare-intelligence" TargetMode="External"/><Relationship Id="rId3" Type="http://schemas.openxmlformats.org/officeDocument/2006/relationships/image" Target="../media/image-16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Flight Fare Intelligence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What drives domestic flight fares in India, and a dashboard that predicts them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Pratham Rangoonwala  |  Data Science Internship Project  |  October 2026</a:t>
            </a:r>
            <a:endParaRPr lang="en-US" sz="1200" dirty="0"/>
          </a:p>
        </p:txBody>
      </p:sp>
      <p:sp>
        <p:nvSpPr>
          <p:cNvPr id="5" name="Hero circle"/>
          <p:cNvSpPr/>
          <p:nvPr/>
        </p:nvSpPr>
        <p:spPr>
          <a:xfrm>
            <a:off x="6309360" y="1325880"/>
            <a:ext cx="2194560" cy="2194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Aeropla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7373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at a glance</a:t>
            </a:r>
            <a:endParaRPr lang="en-US" sz="3000" dirty="0"/>
          </a:p>
        </p:txBody>
      </p:sp>
      <p:sp>
        <p:nvSpPr>
          <p:cNvPr id="4" name="Stat card 1"/>
          <p:cNvSpPr/>
          <p:nvPr/>
        </p:nvSpPr>
        <p:spPr>
          <a:xfrm>
            <a:off x="457200" y="1143000"/>
            <a:ext cx="1920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234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445,366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flights, 9 airlines, 42 routes</a:t>
            </a:r>
            <a:endParaRPr lang="en-US" sz="1200" dirty="0"/>
          </a:p>
        </p:txBody>
      </p:sp>
      <p:sp>
        <p:nvSpPr>
          <p:cNvPr id="7" name="Stat card 2"/>
          <p:cNvSpPr/>
          <p:nvPr/>
        </p:nvSpPr>
        <p:spPr>
          <a:xfrm>
            <a:off x="2560320" y="1143000"/>
            <a:ext cx="1920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97480" y="1234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0.953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269748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R² on 89,074 held-out flights</a:t>
            </a:r>
            <a:endParaRPr lang="en-US" sz="1200" dirty="0"/>
          </a:p>
        </p:txBody>
      </p:sp>
      <p:sp>
        <p:nvSpPr>
          <p:cNvPr id="10" name="Stat card 3"/>
          <p:cNvSpPr/>
          <p:nvPr/>
        </p:nvSpPr>
        <p:spPr>
          <a:xfrm>
            <a:off x="4663440" y="1143000"/>
            <a:ext cx="1920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00600" y="1234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₹2,386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mean absolute error per fare</a:t>
            </a:r>
            <a:endParaRPr lang="en-US" sz="1200" dirty="0"/>
          </a:p>
        </p:txBody>
      </p:sp>
      <p:sp>
        <p:nvSpPr>
          <p:cNvPr id="13" name="Stat card 4"/>
          <p:cNvSpPr/>
          <p:nvPr/>
        </p:nvSpPr>
        <p:spPr>
          <a:xfrm>
            <a:off x="6766560" y="1143000"/>
            <a:ext cx="1920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03720" y="1234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tabs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live dashboard and fare predictor</a:t>
            </a:r>
            <a:endParaRPr lang="en-US" sz="1200" dirty="0"/>
          </a:p>
        </p:txBody>
      </p:sp>
      <p:sp>
        <p:nvSpPr>
          <p:cNvPr id="16" name="Pillar card 1"/>
          <p:cNvSpPr/>
          <p:nvPr/>
        </p:nvSpPr>
        <p:spPr>
          <a:xfrm>
            <a:off x="457200" y="2514600"/>
            <a:ext cx="26517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7" name="Explore circle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0" descr="Expl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2828239"/>
            <a:ext cx="241402" cy="2414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280160" y="2770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charts show how class, airline, route, stops, timing and booking window move fares.</a:t>
            </a:r>
            <a:endParaRPr lang="en-US" sz="1400" dirty="0"/>
          </a:p>
        </p:txBody>
      </p:sp>
      <p:sp>
        <p:nvSpPr>
          <p:cNvPr id="21" name="Pillar card 2"/>
          <p:cNvSpPr/>
          <p:nvPr/>
        </p:nvSpPr>
        <p:spPr>
          <a:xfrm>
            <a:off x="3246120" y="2514600"/>
            <a:ext cx="26517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22" name="Predict circle"/>
          <p:cNvSpPr/>
          <p:nvPr/>
        </p:nvSpPr>
        <p:spPr>
          <a:xfrm>
            <a:off x="3429000" y="26974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mage 1" descr="Predi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2828239"/>
            <a:ext cx="241402" cy="24140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069080" y="2770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3429000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gradient-boosted model estimates the fare of any trip, within about ₹2,400 on average.</a:t>
            </a:r>
            <a:endParaRPr lang="en-US" sz="1400" dirty="0"/>
          </a:p>
        </p:txBody>
      </p:sp>
      <p:sp>
        <p:nvSpPr>
          <p:cNvPr id="26" name="Pillar card 3"/>
          <p:cNvSpPr/>
          <p:nvPr/>
        </p:nvSpPr>
        <p:spPr>
          <a:xfrm>
            <a:off x="6035040" y="2514600"/>
            <a:ext cx="26517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27" name="Deploy circle"/>
          <p:cNvSpPr/>
          <p:nvPr/>
        </p:nvSpPr>
        <p:spPr>
          <a:xfrm>
            <a:off x="6217920" y="26974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8" name="Image 2" descr="Deplo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2828239"/>
            <a:ext cx="241402" cy="2414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858000" y="2770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6217920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filterable Streamlit app on Streamlit Cloud, with booking tips generated from the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and cleaning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 the data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0876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445,366 flights after cleaning (452,088 raw rows)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7 cities, 9 airlines, 42 routes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Economy 56%, Business 28%, Premium Economy 16%; First has only 144 rows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Departures 16 Jan to 6 Mar 2023, 1 to 50 days before takeoff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steps</a:t>
            </a:r>
            <a:endParaRPr lang="en-US" sz="1800" dirty="0"/>
          </a:p>
        </p:txBody>
      </p:sp>
      <p:sp>
        <p:nvSpPr>
          <p:cNvPr id="7" name="Step 1"/>
          <p:cNvSpPr/>
          <p:nvPr/>
        </p:nvSpPr>
        <p:spPr>
          <a:xfrm>
            <a:off x="4754880" y="1554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7548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15361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Strip spaces and convert numeric columns</a:t>
            </a:r>
            <a:endParaRPr lang="en-US" sz="1400" dirty="0"/>
          </a:p>
        </p:txBody>
      </p:sp>
      <p:sp>
        <p:nvSpPr>
          <p:cNvPr id="10" name="Step 2"/>
          <p:cNvSpPr/>
          <p:nvPr/>
        </p:nvSpPr>
        <p:spPr>
          <a:xfrm>
            <a:off x="4754880" y="21396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75488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2121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Drop missing values and 6,722 duplicate rows (1.5%)</a:t>
            </a:r>
            <a:endParaRPr lang="en-US" sz="1400" dirty="0"/>
          </a:p>
        </p:txBody>
      </p:sp>
      <p:sp>
        <p:nvSpPr>
          <p:cNvPr id="13" name="Step 3"/>
          <p:cNvSpPr/>
          <p:nvPr/>
        </p:nvSpPr>
        <p:spPr>
          <a:xfrm>
            <a:off x="4754880" y="27249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75488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27066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Drop Date_of_journey and Flight_code</a:t>
            </a:r>
            <a:endParaRPr lang="en-US" sz="1400" dirty="0"/>
          </a:p>
        </p:txBody>
      </p:sp>
      <p:sp>
        <p:nvSpPr>
          <p:cNvPr id="16" name="Step 4"/>
          <p:cNvSpPr/>
          <p:nvPr/>
        </p:nvSpPr>
        <p:spPr>
          <a:xfrm>
            <a:off x="4754880" y="3310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7548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3291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Convert stops to 0 / 1 / 2+ and add Route</a:t>
            </a:r>
            <a:endParaRPr lang="en-US" sz="1400" dirty="0"/>
          </a:p>
        </p:txBody>
      </p:sp>
      <p:sp>
        <p:nvSpPr>
          <p:cNvPr id="19" name="Limitation callout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Limitation: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prices were collected on a single day. Fare vs days-left patterns are real, but predictions are estimates, not live booking prices.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Class sets the price floor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2120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Multiple card 1"/>
          <p:cNvSpPr/>
          <p:nvPr/>
        </p:nvSpPr>
        <p:spPr>
          <a:xfrm>
            <a:off x="5943600" y="1234440"/>
            <a:ext cx="2743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126480" y="13258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7B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1.6x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7132320" y="1325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Premium Economy, ₹16,225 vs Economy</a:t>
            </a:r>
            <a:endParaRPr lang="en-US" sz="1200" dirty="0"/>
          </a:p>
        </p:txBody>
      </p:sp>
      <p:sp>
        <p:nvSpPr>
          <p:cNvPr id="8" name="Multiple card 2"/>
          <p:cNvSpPr/>
          <p:nvPr/>
        </p:nvSpPr>
        <p:spPr>
          <a:xfrm>
            <a:off x="5943600" y="2331720"/>
            <a:ext cx="2743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126480" y="24231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5.1x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Business, ₹51,632 vs Economy</a:t>
            </a:r>
            <a:endParaRPr lang="en-US" sz="1200" dirty="0"/>
          </a:p>
        </p:txBody>
      </p:sp>
      <p:sp>
        <p:nvSpPr>
          <p:cNvPr id="11" name="Multiple card 3"/>
          <p:cNvSpPr/>
          <p:nvPr/>
        </p:nvSpPr>
        <p:spPr>
          <a:xfrm>
            <a:off x="5943600" y="3429000"/>
            <a:ext cx="2743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126480" y="35204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6.0x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3520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First, ₹60,731 (only 144 flights) vs Economy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Last-minute flights cost more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Fare within 3 days vs 22+ days ahead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943600" y="1554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+49%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7086600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Economy: ₹13,461 vs ₹9,054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+89%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086600" y="2194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Premium Economy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943600" y="2834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+22%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7086600" y="2834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Business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943600" y="3474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B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-1%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3474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First: 144 flights, no signal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All prices were collected on one day, so days left is entangled with calendar date. Read it as a pattern, not a law.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Full-service airlines cost more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76072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Premium carriers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760720" y="14813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Vistara (₹12,082) and Air India (₹11,276) average 38 to 47% more than Indigo (₹8,199).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76072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Cheapest and steadiest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760720" y="26243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AkasaAir averages ₹3,570. AllianceAir has the steadiest fares: its middle 50% spans 31% of its median, vs 57% for Indigo.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76072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Mixing classes misleads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760720" y="37673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Air India and Vistara sell Business or First, so all-class airline averages overstate their cost.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Stops and timing move fares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Non-stop flights are only 11.6% of all flights.</a:t>
            </a:r>
            <a:endParaRPr lang="en-US" sz="1200" dirty="0"/>
          </a:p>
        </p:txBody>
      </p:sp>
      <p:sp>
        <p:nvSpPr>
          <p:cNvPr id="6" name="Timing card 1"/>
          <p:cNvSpPr/>
          <p:nvPr/>
        </p:nvSpPr>
        <p:spPr>
          <a:xfrm>
            <a:off x="5029200" y="1188720"/>
            <a:ext cx="3657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212080" y="1280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+88%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1280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 stop vs non-stop (₹10,731 vs ₹5,723), but about 12.0 h vs 2.1 h in the air</a:t>
            </a:r>
            <a:endParaRPr lang="en-US" sz="1200" dirty="0"/>
          </a:p>
        </p:txBody>
      </p:sp>
      <p:sp>
        <p:nvSpPr>
          <p:cNvPr id="9" name="Timing card 2"/>
          <p:cNvSpPr/>
          <p:nvPr/>
        </p:nvSpPr>
        <p:spPr>
          <a:xfrm>
            <a:off x="5029200" y="2331720"/>
            <a:ext cx="3657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212080" y="2423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+19%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 AM to 12 PM departures vs before 6 AM (₹10,696 vs ₹9,004)</a:t>
            </a:r>
            <a:endParaRPr lang="en-US" sz="1200" dirty="0"/>
          </a:p>
        </p:txBody>
      </p:sp>
      <p:sp>
        <p:nvSpPr>
          <p:cNvPr id="12" name="Timing card 3"/>
          <p:cNvSpPr/>
          <p:nvPr/>
        </p:nvSpPr>
        <p:spPr>
          <a:xfrm>
            <a:off x="5029200" y="3474720"/>
            <a:ext cx="3657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212080" y="3566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7B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626364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gap between cheapest and costliest weekday (Tuesday ₹9,824, Sunday ₹10,640)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Modelling approach</a:t>
            </a:r>
            <a:endParaRPr lang="en-US" sz="3000" dirty="0"/>
          </a:p>
        </p:txBody>
      </p:sp>
      <p:sp>
        <p:nvSpPr>
          <p:cNvPr id="4" name="Pipeline step 1"/>
          <p:cNvSpPr/>
          <p:nvPr/>
        </p:nvSpPr>
        <p:spPr>
          <a:xfrm>
            <a:off x="457200" y="1097280"/>
            <a:ext cx="18288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66928" y="11612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 features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44752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7 categorical, plus stops, duration, days left</a:t>
            </a:r>
            <a:endParaRPr lang="en-US" sz="1100" dirty="0"/>
          </a:p>
        </p:txBody>
      </p:sp>
      <p:sp>
        <p:nvSpPr>
          <p:cNvPr id="7" name="Arrow 1"/>
          <p:cNvSpPr/>
          <p:nvPr/>
        </p:nvSpPr>
        <p:spPr>
          <a:xfrm>
            <a:off x="2322576" y="1481328"/>
            <a:ext cx="246888" cy="2286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8" name="Pipeline step 2"/>
          <p:cNvSpPr/>
          <p:nvPr/>
        </p:nvSpPr>
        <p:spPr>
          <a:xfrm>
            <a:off x="2606040" y="1097280"/>
            <a:ext cx="18288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715768" y="11612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Encode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715768" y="1444752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OrdinalEncoder, native categorical splits</a:t>
            </a:r>
            <a:endParaRPr lang="en-US" sz="1100" dirty="0"/>
          </a:p>
        </p:txBody>
      </p:sp>
      <p:sp>
        <p:nvSpPr>
          <p:cNvPr id="11" name="Arrow 2"/>
          <p:cNvSpPr/>
          <p:nvPr/>
        </p:nvSpPr>
        <p:spPr>
          <a:xfrm>
            <a:off x="4471416" y="1481328"/>
            <a:ext cx="246888" cy="2286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2" name="Pipeline step 3"/>
          <p:cNvSpPr/>
          <p:nvPr/>
        </p:nvSpPr>
        <p:spPr>
          <a:xfrm>
            <a:off x="4754880" y="1097280"/>
            <a:ext cx="18288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64608" y="11612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Boost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864608" y="1444752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HistGradientBoosting on log(1 + fare)</a:t>
            </a:r>
            <a:endParaRPr lang="en-US" sz="1100" dirty="0"/>
          </a:p>
        </p:txBody>
      </p:sp>
      <p:sp>
        <p:nvSpPr>
          <p:cNvPr id="15" name="Arrow 3"/>
          <p:cNvSpPr/>
          <p:nvPr/>
        </p:nvSpPr>
        <p:spPr>
          <a:xfrm>
            <a:off x="6620256" y="1481328"/>
            <a:ext cx="246888" cy="2286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6" name="Pipeline step 4"/>
          <p:cNvSpPr/>
          <p:nvPr/>
        </p:nvSpPr>
        <p:spPr>
          <a:xfrm>
            <a:off x="6903720" y="1097280"/>
            <a:ext cx="18288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013448" y="11612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Ship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13448" y="1444752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joblib model, scikit-learn 1.8.0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1206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Model (test set)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MAE (₹)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R²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Tuned Hist Gradient Boosting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2,386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0.953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2,357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0.948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Decision Tree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2,587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0.938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Hist Gradient Boosting (untuned)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3,120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0.929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Linear / Ridge regression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4,711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0.862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Mean baseline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16,724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59436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gradient boosting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943600" y="26060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Highest R² and lowest RMSE, MAE within about 1% of Random Forest, roughly 3x faster to train (15 s vs 41 s) and a 5.8 MB file.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Split: 80/20 stratified by class, seed 42 (356,292 train, 89,074 test). Tuning: 3-fold randomized search on 100k training rows.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accurate is the model?</a:t>
            </a:r>
            <a:endParaRPr lang="en-US" sz="3000" dirty="0"/>
          </a:p>
        </p:txBody>
      </p:sp>
      <p:sp>
        <p:nvSpPr>
          <p:cNvPr id="4" name="Accuracy card 1"/>
          <p:cNvSpPr/>
          <p:nvPr/>
        </p:nvSpPr>
        <p:spPr>
          <a:xfrm>
            <a:off x="4572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1612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A3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0.953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09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R² on test set</a:t>
            </a:r>
            <a:endParaRPr lang="en-US" sz="1200" dirty="0"/>
          </a:p>
        </p:txBody>
      </p:sp>
      <p:sp>
        <p:nvSpPr>
          <p:cNvPr id="7" name="Accuracy card 2"/>
          <p:cNvSpPr/>
          <p:nvPr/>
        </p:nvSpPr>
        <p:spPr>
          <a:xfrm>
            <a:off x="256032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97480" y="11612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₹2,386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2697480" y="1709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mean absolute error</a:t>
            </a:r>
            <a:endParaRPr lang="en-US" sz="1200" dirty="0"/>
          </a:p>
        </p:txBody>
      </p:sp>
      <p:sp>
        <p:nvSpPr>
          <p:cNvPr id="10" name="Accuracy card 3"/>
          <p:cNvSpPr/>
          <p:nvPr/>
        </p:nvSpPr>
        <p:spPr>
          <a:xfrm>
            <a:off x="466344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00600" y="11612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7B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709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median error</a:t>
            </a:r>
            <a:endParaRPr lang="en-US" sz="1200" dirty="0"/>
          </a:p>
        </p:txBody>
      </p:sp>
      <p:sp>
        <p:nvSpPr>
          <p:cNvPr id="13" name="Accuracy card 4"/>
          <p:cNvSpPr/>
          <p:nvPr/>
        </p:nvSpPr>
        <p:spPr>
          <a:xfrm>
            <a:off x="676656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03720" y="11612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7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10.8%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1709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mean % error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331720"/>
          <a:ext cx="49377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576072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Where it struggles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760720" y="269748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Error is about 9 to 12% for Economy, Premium Economy and Business, but larger in rupees on Business (₹4,927 MAE vs ₹1,213 Economy)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Worst misses are cheap fares predicted far too high, up to about 5x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drives the fare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852160" y="1143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Class dominates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85216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Shuffling it adds ₹14,722 of error, 5x the next feature.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85216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Route counts twice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85216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Source (₹1,719) and destination (₹1,555) together rival duration.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852160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Booking window is mid-table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85216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Days left (₹1,459) is on par with airline (₹1,671).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85216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Timing is minor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4023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Departure, arrival, stops and weekday are each under ₹600.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dashboard</a:t>
            </a:r>
            <a:endParaRPr lang="en-US" sz="3000" dirty="0"/>
          </a:p>
        </p:txBody>
      </p:sp>
      <p:sp>
        <p:nvSpPr>
          <p:cNvPr id="4" name="Overview circle"/>
          <p:cNvSpPr/>
          <p:nvPr/>
        </p:nvSpPr>
        <p:spPr>
          <a:xfrm>
            <a:off x="457200" y="11704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313078"/>
            <a:ext cx="263347" cy="26334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115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Overview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1188720" y="14081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Class premium, days-left curve, fare distribution</a:t>
            </a:r>
            <a:endParaRPr lang="en-US" sz="1200" dirty="0"/>
          </a:p>
        </p:txBody>
      </p:sp>
      <p:sp>
        <p:nvSpPr>
          <p:cNvPr id="8" name="Airlines &amp; Routes circle"/>
          <p:cNvSpPr/>
          <p:nvPr/>
        </p:nvSpPr>
        <p:spPr>
          <a:xfrm>
            <a:off x="457200" y="2020824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1" descr="Airlines &amp; Rou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2163470"/>
            <a:ext cx="263347" cy="26334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Airlines &amp; Routes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1188720" y="22585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Airline gap, spread, route heatmap, top 10, class mix</a:t>
            </a:r>
            <a:endParaRPr lang="en-US" sz="1200" dirty="0"/>
          </a:p>
        </p:txBody>
      </p:sp>
      <p:sp>
        <p:nvSpPr>
          <p:cNvPr id="12" name="Timing, Stops &amp; Duration circle"/>
          <p:cNvSpPr/>
          <p:nvPr/>
        </p:nvSpPr>
        <p:spPr>
          <a:xfrm>
            <a:off x="457200" y="287121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Timing, Stops &amp; Dur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013862"/>
            <a:ext cx="263347" cy="26334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2816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Timing, Stops &amp; Duration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118872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Time of day, weekday, stops, duration vs fare</a:t>
            </a:r>
            <a:endParaRPr lang="en-US" sz="1200" dirty="0"/>
          </a:p>
        </p:txBody>
      </p:sp>
      <p:sp>
        <p:nvSpPr>
          <p:cNvPr id="16" name="Fare Predictor circle"/>
          <p:cNvSpPr/>
          <p:nvPr/>
        </p:nvSpPr>
        <p:spPr>
          <a:xfrm>
            <a:off x="457200" y="3721608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3" descr="Fare Predic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3864254"/>
            <a:ext cx="263347" cy="26334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36667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Fare Predictor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1188720" y="39593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Trip inputs to fare, range and airline comparison</a:t>
            </a:r>
            <a:endParaRPr lang="en-US" sz="1200" dirty="0"/>
          </a:p>
        </p:txBody>
      </p:sp>
      <p:pic>
        <p:nvPicPr>
          <p:cNvPr id="20" name="Image 4" descr="Dashboard Overview tab screensh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1097280"/>
            <a:ext cx="4480560" cy="32004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21" name="Text 13"/>
          <p:cNvSpPr txBox="1"/>
          <p:nvPr/>
        </p:nvSpPr>
        <p:spPr>
          <a:xfrm>
            <a:off x="4206240" y="4389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12 analysis charts and 2 predictor charts, one per row, mobile-friendly.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fare predictor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Eight inputs: class, route, airline, stops, days left, times, weekday, duration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Duration auto-fills with the typical value for that airline, class, route and stops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Shows the predicted fare against the route median and typical range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Plots the fare across 1 to 50 days and the same trip on every airline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Warns when the combination is not in the data</a:t>
            </a:r>
            <a:endParaRPr lang="en-US" sz="1400" dirty="0"/>
          </a:p>
        </p:txBody>
      </p:sp>
      <p:pic>
        <p:nvPicPr>
          <p:cNvPr id="5" name="Image 0" descr="Fare Predictor tab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051560"/>
            <a:ext cx="3749040" cy="35661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Filters change every number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All classes</a:t>
            </a:r>
            <a:endParaRPr lang="en-US" sz="1200" dirty="0"/>
          </a:p>
        </p:txBody>
      </p:sp>
      <p:pic>
        <p:nvPicPr>
          <p:cNvPr id="5" name="Image 0" descr="Dashboard header KPIs with all classes selec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754880" cy="1508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2926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Class filter: Economy only</a:t>
            </a:r>
            <a:endParaRPr lang="en-US" sz="1200" dirty="0"/>
          </a:p>
        </p:txBody>
      </p:sp>
      <p:pic>
        <p:nvPicPr>
          <p:cNvPr id="7" name="Image 1" descr="Dashboard header KPIs with Economy only select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4754880" cy="1508760"/>
          </a:xfrm>
          <a:prstGeom prst="rect">
            <a:avLst/>
          </a:prstGeom>
        </p:spPr>
      </p:pic>
      <p:sp>
        <p:nvSpPr>
          <p:cNvPr id="8" name="Change card 1"/>
          <p:cNvSpPr/>
          <p:nvPr/>
        </p:nvSpPr>
        <p:spPr>
          <a:xfrm>
            <a:off x="5486400" y="1188720"/>
            <a:ext cx="32004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5669280" y="12984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₹22,920 to ₹10,164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566928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average fare</a:t>
            </a:r>
            <a:endParaRPr lang="en-US" sz="1200" dirty="0"/>
          </a:p>
        </p:txBody>
      </p:sp>
      <p:sp>
        <p:nvSpPr>
          <p:cNvPr id="11" name="Change card 2"/>
          <p:cNvSpPr/>
          <p:nvPr/>
        </p:nvSpPr>
        <p:spPr>
          <a:xfrm>
            <a:off x="5486400" y="2194560"/>
            <a:ext cx="32004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669280" y="23042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445,366 to 248,323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5669280" y="2743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flights</a:t>
            </a:r>
            <a:endParaRPr lang="en-US" sz="1200" dirty="0"/>
          </a:p>
        </p:txBody>
      </p:sp>
      <p:sp>
        <p:nvSpPr>
          <p:cNvPr id="14" name="Change card 3"/>
          <p:cNvSpPr/>
          <p:nvPr/>
        </p:nvSpPr>
        <p:spPr>
          <a:xfrm>
            <a:off x="5486400" y="3200400"/>
            <a:ext cx="32004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5669280" y="33101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+26% to +49%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566928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last-minute premium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Smart Booking Tips are the exception: they use the full dataset and stay fixed.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Engineering challenges solved</a:t>
            </a:r>
            <a:endParaRPr lang="en-US" sz="3000" dirty="0"/>
          </a:p>
        </p:txBody>
      </p:sp>
      <p:sp>
        <p:nvSpPr>
          <p:cNvPr id="4" name="Challenge card 1"/>
          <p:cNvSpPr/>
          <p:nvPr/>
        </p:nvSpPr>
        <p:spPr>
          <a:xfrm>
            <a:off x="45720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5" name="Memory limits circle"/>
          <p:cNvSpPr/>
          <p:nvPr/>
        </p:nvSpPr>
        <p:spPr>
          <a:xfrm>
            <a:off x="640080" y="126187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Memory lim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80744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298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limits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84708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Copying 445k rows on every click ran out of memory. Fix: one cached copy, a 12-column filtered frame, a 50-row pre-binned histogram and sampled box and scatter plots.</a:t>
            </a:r>
            <a:endParaRPr lang="en-US" sz="1200" dirty="0"/>
          </a:p>
        </p:txBody>
      </p:sp>
      <p:sp>
        <p:nvSpPr>
          <p:cNvPr id="9" name="Challenge card 2"/>
          <p:cNvSpPr/>
          <p:nvPr/>
        </p:nvSpPr>
        <p:spPr>
          <a:xfrm>
            <a:off x="466344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0" name="Model version mismatch circle"/>
          <p:cNvSpPr/>
          <p:nvPr/>
        </p:nvSpPr>
        <p:spPr>
          <a:xfrm>
            <a:off x="4846320" y="12618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Model version mismat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38074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298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version mismatch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846320" y="184708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saved model failed with a scikit-learn _RemainderColsList error. Fix: re-saved it in Colab on the same version as the app, 1.8.0.</a:t>
            </a:r>
            <a:endParaRPr lang="en-US" sz="1200" dirty="0"/>
          </a:p>
        </p:txBody>
      </p:sp>
      <p:sp>
        <p:nvSpPr>
          <p:cNvPr id="14" name="Challenge card 3"/>
          <p:cNvSpPr/>
          <p:nvPr/>
        </p:nvSpPr>
        <p:spPr>
          <a:xfrm>
            <a:off x="45720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5" name="Deployment error circle"/>
          <p:cNvSpPr/>
          <p:nvPr/>
        </p:nvSpPr>
        <p:spPr>
          <a:xfrm>
            <a:off x="640080" y="309067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2" descr="Deployment err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095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3127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error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367588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Streamlit Cloud raised No module named '_loss'. Fix: pinned all seven packages in requirements.txt.</a:t>
            </a:r>
            <a:endParaRPr lang="en-US" sz="1200" dirty="0"/>
          </a:p>
        </p:txBody>
      </p:sp>
      <p:sp>
        <p:nvSpPr>
          <p:cNvPr id="19" name="Challenge card 4"/>
          <p:cNvSpPr/>
          <p:nvPr/>
        </p:nvSpPr>
        <p:spPr>
          <a:xfrm>
            <a:off x="466344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20" name="Debug visibility circle"/>
          <p:cNvSpPr/>
          <p:nvPr/>
        </p:nvSpPr>
        <p:spPr>
          <a:xfrm>
            <a:off x="4846320" y="309067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3" descr="Debug visibil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20954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40680" y="3127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visibility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4846320" y="367588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sidebar shows whether the saved or the fallback model is serving. If loading fails, a matching pipeline trains itself.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Limitations and next steps</a:t>
            </a:r>
            <a:endParaRPr lang="en-US" sz="3000" dirty="0"/>
          </a:p>
        </p:txBody>
      </p:sp>
      <p:sp>
        <p:nvSpPr>
          <p:cNvPr id="4" name="Limitations card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373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One-day price snapshot, so no true price-over-time signal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about 7 weeks of departures, no festivals or holidays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First class: 144 flights, all Air India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Random split, so scores may overstate accuracy on future flights</a:t>
            </a:r>
            <a:endParaRPr lang="en-US" sz="1400" dirty="0"/>
          </a:p>
        </p:txBody>
      </p:sp>
      <p:sp>
        <p:nvSpPr>
          <p:cNvPr id="7" name="Next steps card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7373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Collect fares across many days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holidays, fuel prices and seat availability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Quantile regression to predict fare ranges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Time-based validation; try XGBoost and LightGBM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Try it yourself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Live dashboard and full code, free to explore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CC8F0"/>
                </a:solidFill>
              </a:rPr>
              <a:t>App: </a:t>
            </a:r>
            <a:pPr indent="0" marL="0">
              <a:spcAft>
                <a:spcPts val="600"/>
              </a:spcAft>
              <a:buNone/>
            </a:pPr>
            <a:r>
              <a:rPr lang="en-US" sz="1600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flight-fare-intelligence.streamlit.app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CC8F0"/>
                </a:solidFill>
              </a:rPr>
              <a:t>Code: </a:t>
            </a:r>
            <a:pPr indent="0" marL="0">
              <a:spcAft>
                <a:spcPts val="600"/>
              </a:spcAft>
              <a:buNone/>
            </a:pPr>
            <a:r>
              <a:rPr lang="en-US" sz="1600" u="sng" dirty="0">
                <a:solidFill>
                  <a:srgbClr val="FFFFFF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github.com/Pratham719/flight-fare-intelligence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Pratham Rangoonwala</a:t>
            </a:r>
            <a:endParaRPr lang="en-US" sz="1200" dirty="0"/>
          </a:p>
        </p:txBody>
      </p:sp>
      <p:sp>
        <p:nvSpPr>
          <p:cNvPr id="6" name="Hero circle"/>
          <p:cNvSpPr/>
          <p:nvPr/>
        </p:nvSpPr>
        <p:spPr>
          <a:xfrm>
            <a:off x="6309360" y="1325880"/>
            <a:ext cx="2194560" cy="2194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Aeropla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373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light Fare Intelligence">
  <a:themeElements>
    <a:clrScheme name="Flight Fare Intelligence">
      <a:dk1>
        <a:srgbClr val="0B1F3A"/>
      </a:dk1>
      <a:lt1>
        <a:srgbClr val="FFFFFF"/>
      </a:lt1>
      <a:dk2>
        <a:srgbClr val="1B3A63"/>
      </a:dk2>
      <a:lt2>
        <a:srgbClr val="EEF3F8"/>
      </a:lt2>
      <a:accent1>
        <a:srgbClr val="2B7BB9"/>
      </a:accent1>
      <a:accent2>
        <a:srgbClr val="F2B544"/>
      </a:accent2>
      <a:accent3>
        <a:srgbClr val="2FA38F"/>
      </a:accent3>
      <a:accent4>
        <a:srgbClr val="E8735A"/>
      </a:accent4>
      <a:accent5>
        <a:srgbClr val="7CC8F0"/>
      </a:accent5>
      <a:accent6>
        <a:srgbClr val="5B6B7F"/>
      </a:accent6>
      <a:hlink>
        <a:srgbClr val="2B7BB9"/>
      </a:hlink>
      <a:folHlink>
        <a:srgbClr val="5B6B7F"/>
      </a:folHlink>
    </a:clrScheme>
    <a:fontScheme name="Flight Fare Intellig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Fare Intelligence</dc:title>
  <dc:subject>PptxGenJS Presentation</dc:subject>
  <dc:creator>Pratham Rangoonwala</dc:creator>
  <cp:lastModifiedBy>Pratham Rangoonwala</cp:lastModifiedBy>
  <cp:revision>1</cp:revision>
  <dcterms:created xsi:type="dcterms:W3CDTF">2026-10-31T09:12:15Z</dcterms:created>
  <dcterms:modified xsi:type="dcterms:W3CDTF">2026-10-31T09:12:15Z</dcterms:modified>
</cp:coreProperties>
</file>